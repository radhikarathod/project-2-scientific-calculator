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299" r:id="rId6"/>
    <p:sldId id="261" r:id="rId7"/>
    <p:sldId id="306" r:id="rId8"/>
    <p:sldId id="302" r:id="rId9"/>
    <p:sldId id="305" r:id="rId10"/>
    <p:sldId id="303" r:id="rId11"/>
    <p:sldId id="304" r:id="rId12"/>
    <p:sldId id="301" r:id="rId13"/>
    <p:sldId id="29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  <a:noFill/>
          <a:ln>
            <a:noFill/>
          </a:ln>
        </p:spPr>
        <p:txBody>
          <a:bodyPr lIns="0" anchor="b" anchorCtr="0"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Math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logical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3200" dirty="0"/>
              <a:t>(Scientific Calculator)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2042745" cy="32125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Radhika Rathod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Office Calculator">
                <a:extLst>
                  <a:ext uri="{FF2B5EF4-FFF2-40B4-BE49-F238E27FC236}">
                    <a16:creationId xmlns:a16="http://schemas.microsoft.com/office/drawing/2014/main" id="{8AA3F2A0-2595-10FE-5DE4-2E115C1AEC6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7127374"/>
                  </p:ext>
                </p:extLst>
              </p:nvPr>
            </p:nvGraphicFramePr>
            <p:xfrm>
              <a:off x="7965311" y="2084869"/>
              <a:ext cx="2761683" cy="295296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761683" cy="2952967"/>
                    </a:xfrm>
                    <a:prstGeom prst="rect">
                      <a:avLst/>
                    </a:prstGeom>
                    <a:effectLst>
                      <a:outerShdw blurRad="76200" dist="12700" dir="2700000" sy="-23000" kx="-800400" algn="bl" rotWithShape="0">
                        <a:prstClr val="black">
                          <a:alpha val="20000"/>
                        </a:prstClr>
                      </a:outerShdw>
                    </a:effectLst>
                  </am3d:spPr>
                  <am3d:camera>
                    <am3d:pos x="0" y="0" z="5906111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16232" d="1000000"/>
                    <am3d:preTrans dx="0" dy="-2839603" dz="-24381"/>
                    <am3d:scale>
                      <am3d:sx n="1000000" d="1000000"/>
                      <am3d:sy n="1000000" d="1000000"/>
                      <am3d:sz n="1000000" d="1000000"/>
                    </am3d:scale>
                    <am3d:rot ax="3187713" ay="-485019" az="-637122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4550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Office Calculator">
                <a:extLst>
                  <a:ext uri="{FF2B5EF4-FFF2-40B4-BE49-F238E27FC236}">
                    <a16:creationId xmlns:a16="http://schemas.microsoft.com/office/drawing/2014/main" id="{8AA3F2A0-2595-10FE-5DE4-2E115C1AEC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65311" y="2084869"/>
                <a:ext cx="2761683" cy="2952967"/>
              </a:xfrm>
              <a:prstGeom prst="rect">
                <a:avLst/>
              </a:prstGeom>
              <a:effectLst>
                <a:outerShdw blurRad="76200" dist="12700" dir="2700000" sy="-23000" kx="-800400" algn="bl" rotWithShape="0">
                  <a:prstClr val="black">
                    <a:alpha val="20000"/>
                  </a:prstClr>
                </a:outerShd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0" y="2042651"/>
            <a:ext cx="4206240" cy="2377440"/>
          </a:xfrm>
        </p:spPr>
        <p:txBody>
          <a:bodyPr anchor="t" anchorCtr="0"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471254" y="2750574"/>
            <a:ext cx="7741572" cy="2378075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The </a:t>
            </a:r>
            <a:r>
              <a:rPr lang="en-US" i="1" dirty="0"/>
              <a:t>Mathgical Calculator</a:t>
            </a:r>
            <a:r>
              <a:rPr lang="en-US" dirty="0"/>
              <a:t> is a Python-based application built using PyQt5, designed for efficient and user-friendly calculations. </a:t>
            </a:r>
          </a:p>
          <a:p>
            <a:r>
              <a:rPr lang="en-US" dirty="0"/>
              <a:t>It supports both basic and scientific operations, along with memory functions and calculation history. </a:t>
            </a:r>
          </a:p>
          <a:p>
            <a:r>
              <a:rPr lang="en-US" dirty="0"/>
              <a:t>The application also features light and dark themes, providing a modern interface and improved user experience.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IN" dirty="0"/>
              <a:t>Why PyQt5?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547" y="3195384"/>
            <a:ext cx="6750828" cy="2222483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badi (Body)"/>
                <a:ea typeface="ADLaM Display" panose="02010000000000000000" pitchFamily="2" charset="0"/>
                <a:cs typeface="ADLaM Display" panose="02010000000000000000" pitchFamily="2" charset="0"/>
              </a:rPr>
              <a:t>PyQt5 was chosen because it provides a powerful and flexible framework for building desktop GUI applications with a professional look. </a:t>
            </a:r>
          </a:p>
          <a:p>
            <a:r>
              <a:rPr lang="en-US" dirty="0">
                <a:latin typeface="Abadi (Body)"/>
                <a:ea typeface="ADLaM Display" panose="02010000000000000000" pitchFamily="2" charset="0"/>
                <a:cs typeface="ADLaM Display" panose="02010000000000000000" pitchFamily="2" charset="0"/>
              </a:rPr>
              <a:t>It offers a wide range of ready-to-use widgets, supports event-driven programming, and allows easy implementation of features like layouts, theme switching, and user interactions.</a:t>
            </a:r>
          </a:p>
          <a:p>
            <a:r>
              <a:rPr lang="en-US" dirty="0">
                <a:latin typeface="Abadi (Body)"/>
                <a:ea typeface="ADLaM Display" panose="02010000000000000000" pitchFamily="2" charset="0"/>
                <a:cs typeface="ADLaM Display" panose="02010000000000000000" pitchFamily="2" charset="0"/>
              </a:rPr>
              <a:t> Compared to other libraries, PyQt5 gives better control over UI design and helps create modern, responsive applications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524B-A92E-D56D-A26A-9C437C77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9114-B5D0-AEDF-72C5-68E362EFB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089" y="923838"/>
            <a:ext cx="2965091" cy="521503"/>
          </a:xfrm>
          <a:noFill/>
        </p:spPr>
        <p:txBody>
          <a:bodyPr anchor="t" anchorCtr="0">
            <a:noAutofit/>
          </a:bodyPr>
          <a:lstStyle/>
          <a:p>
            <a:r>
              <a:rPr lang="en-US" sz="2000" dirty="0"/>
              <a:t>Operator &amp; Functions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68475E6-0B37-EF53-C07E-428F1615D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081338"/>
              </p:ext>
            </p:extLst>
          </p:nvPr>
        </p:nvGraphicFramePr>
        <p:xfrm>
          <a:off x="1213618" y="1836174"/>
          <a:ext cx="5039698" cy="318565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155956">
                  <a:extLst>
                    <a:ext uri="{9D8B030D-6E8A-4147-A177-3AD203B41FA5}">
                      <a16:colId xmlns:a16="http://schemas.microsoft.com/office/drawing/2014/main" val="2866953013"/>
                    </a:ext>
                  </a:extLst>
                </a:gridCol>
                <a:gridCol w="3883742">
                  <a:extLst>
                    <a:ext uri="{9D8B030D-6E8A-4147-A177-3AD203B41FA5}">
                      <a16:colId xmlns:a16="http://schemas.microsoft.com/office/drawing/2014/main" val="1644013909"/>
                    </a:ext>
                  </a:extLst>
                </a:gridCol>
              </a:tblGrid>
              <a:tr h="438282">
                <a:tc>
                  <a:txBody>
                    <a:bodyPr/>
                    <a:lstStyle/>
                    <a:p>
                      <a:r>
                        <a:rPr lang="en-IN" dirty="0"/>
                        <a:t>Operator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92861"/>
                  </a:ext>
                </a:extLst>
              </a:tr>
              <a:tr h="457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Adds two numbers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045334"/>
                  </a:ext>
                </a:extLst>
              </a:tr>
              <a:tr h="457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Subtracts one number from another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970161"/>
                  </a:ext>
                </a:extLst>
              </a:tr>
              <a:tr h="457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Multiplies two numbers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225857"/>
                  </a:ext>
                </a:extLst>
              </a:tr>
              <a:tr h="457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Divides one number by another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674120"/>
                  </a:ext>
                </a:extLst>
              </a:tr>
              <a:tr h="457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Displays the calculated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078159"/>
                  </a:ext>
                </a:extLst>
              </a:tr>
              <a:tr h="457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Adds decimal point for fractional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0372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27086-C60B-386A-58BD-E4C32AF9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7A09F04C-9F11-280C-A6B1-B1C0E47D58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9900781"/>
              </p:ext>
            </p:extLst>
          </p:nvPr>
        </p:nvGraphicFramePr>
        <p:xfrm>
          <a:off x="6833421" y="642379"/>
          <a:ext cx="5039698" cy="5940666"/>
        </p:xfrm>
        <a:graphic>
          <a:graphicData uri="http://schemas.openxmlformats.org/drawingml/2006/table">
            <a:tbl>
              <a:tblPr bandRow="1">
                <a:tableStyleId>{FABFCF23-3B69-468F-B69F-88F6DE6A72F2}</a:tableStyleId>
              </a:tblPr>
              <a:tblGrid>
                <a:gridCol w="1155956">
                  <a:extLst>
                    <a:ext uri="{9D8B030D-6E8A-4147-A177-3AD203B41FA5}">
                      <a16:colId xmlns:a16="http://schemas.microsoft.com/office/drawing/2014/main" val="2866953013"/>
                    </a:ext>
                  </a:extLst>
                </a:gridCol>
                <a:gridCol w="3883742">
                  <a:extLst>
                    <a:ext uri="{9D8B030D-6E8A-4147-A177-3AD203B41FA5}">
                      <a16:colId xmlns:a16="http://schemas.microsoft.com/office/drawing/2014/main" val="1644013909"/>
                    </a:ext>
                  </a:extLst>
                </a:gridCol>
              </a:tblGrid>
              <a:tr h="353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Clears the current 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92861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Clears stored memory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35637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Recalls value from memory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80642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M+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Adds value to memory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847472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M−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Subtracts value from memory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425688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sin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Calculates sine of an angle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360507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cos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Calculates cosine of an angle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918981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tan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Calculates tangent of an angle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34481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√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Calculates square root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478285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log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Calculates base-10 logarithm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442619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1400" dirty="0"/>
                        <a:t>π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Inserts value of pi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598500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Inserts Euler’s number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766440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x²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Squares the number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342839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x³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Cubes the number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38989"/>
                  </a:ext>
                </a:extLst>
              </a:tr>
              <a:tr h="39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 err="1"/>
                        <a:t>xʸ</a:t>
                      </a:r>
                      <a:endParaRPr lang="en-IN" sz="14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Raises number to a power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124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0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F83C-0060-1D43-C31B-AF72738D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779F-D241-9AFB-6832-AC3143EC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49" y="1994246"/>
            <a:ext cx="3785419" cy="1073419"/>
          </a:xfrm>
          <a:noFill/>
        </p:spPr>
        <p:txBody>
          <a:bodyPr anchor="t" anchorCtr="0">
            <a:noAutofit/>
          </a:bodyPr>
          <a:lstStyle/>
          <a:p>
            <a:br>
              <a:rPr lang="en-US" dirty="0"/>
            </a:br>
            <a:r>
              <a:rPr lang="en-US" dirty="0"/>
              <a:t>Light Theme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9F4A6-56E5-1478-8DE5-3CBAE701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1D42C2-35D6-7940-FB83-AE29EF73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6" t="931" r="2023"/>
          <a:stretch>
            <a:fillRect/>
          </a:stretch>
        </p:blipFill>
        <p:spPr>
          <a:xfrm>
            <a:off x="5007721" y="1383337"/>
            <a:ext cx="2905433" cy="4487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5D1695-41F4-C252-803D-59FE64F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736" y="1383337"/>
            <a:ext cx="2905433" cy="4487111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458D91E-0A80-4626-937E-EE700943C5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1763" y="3276450"/>
            <a:ext cx="435375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Clean and minimal user interface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Ideal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daytime usage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Light background improves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readability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Color-coded actions: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Operators → Orange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Equal → Green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Clear → Red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Simple, intuitive, and easy to navigate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Maintains clarity with a user-friendly layout </a:t>
            </a:r>
          </a:p>
        </p:txBody>
      </p:sp>
    </p:spTree>
    <p:extLst>
      <p:ext uri="{BB962C8B-B14F-4D97-AF65-F5344CB8AC3E}">
        <p14:creationId xmlns:p14="http://schemas.microsoft.com/office/powerpoint/2010/main" val="73135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1454-ACED-D691-5563-5640FB2C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EA3E6-6AE2-D20E-A345-1313C548F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49" y="1994246"/>
            <a:ext cx="3785419" cy="3383280"/>
          </a:xfrm>
          <a:noFill/>
        </p:spPr>
        <p:txBody>
          <a:bodyPr anchor="t" anchorCtr="0">
            <a:noAutofit/>
          </a:bodyPr>
          <a:lstStyle/>
          <a:p>
            <a:br>
              <a:rPr lang="en-US" dirty="0"/>
            </a:br>
            <a:r>
              <a:rPr lang="en-US" dirty="0"/>
              <a:t>Dark Theme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DA14D-7C00-0545-F86C-5C8D9C0C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F80B4-8C7A-BA89-5364-3EF917D1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4" r="1154"/>
          <a:stretch>
            <a:fillRect/>
          </a:stretch>
        </p:blipFill>
        <p:spPr>
          <a:xfrm>
            <a:off x="8358707" y="1383337"/>
            <a:ext cx="2905433" cy="4487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413C2C-AC81-22A2-5AB2-D72783D87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070" y="1383336"/>
            <a:ext cx="2905433" cy="4487111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8582BD49-B6E4-B7AE-A73C-F9F67D77F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847" y="3265319"/>
            <a:ext cx="399628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Modern and visually appealing interface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Suitable for low-light environments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Dark background reduces eye strain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High-contrast text improves visibility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Consistent color coding across themes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Professional look with smooth usability</a:t>
            </a:r>
          </a:p>
        </p:txBody>
      </p:sp>
    </p:spTree>
    <p:extLst>
      <p:ext uri="{BB962C8B-B14F-4D97-AF65-F5344CB8AC3E}">
        <p14:creationId xmlns:p14="http://schemas.microsoft.com/office/powerpoint/2010/main" val="249308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D53C-88E6-4B64-3833-462DB40C5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BCAE-C87E-5249-ED5A-86F8AD93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D8047-3EB0-065F-986E-BD829D9F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9" y="2683813"/>
            <a:ext cx="5938685" cy="3383280"/>
          </a:xfrm>
          <a:noFill/>
        </p:spPr>
        <p:txBody>
          <a:bodyPr>
            <a:normAutofit/>
          </a:bodyPr>
          <a:lstStyle/>
          <a:p>
            <a:r>
              <a:rPr lang="en-US" sz="1900" dirty="0"/>
              <a:t>Handling invalid user inputs and calculation errors </a:t>
            </a:r>
          </a:p>
          <a:p>
            <a:r>
              <a:rPr lang="en-US" sz="1900" dirty="0"/>
              <a:t>Ensuring safe evaluation of expressions using eval() </a:t>
            </a:r>
          </a:p>
          <a:p>
            <a:r>
              <a:rPr lang="en-US" sz="1900" dirty="0"/>
              <a:t>Implementing scientific functions with correct logic </a:t>
            </a:r>
          </a:p>
          <a:p>
            <a:r>
              <a:rPr lang="en-US" sz="1900" dirty="0"/>
              <a:t>Managing theme switching (Light/Dark) smoothly </a:t>
            </a:r>
          </a:p>
          <a:p>
            <a:r>
              <a:rPr lang="en-US" sz="1900" dirty="0"/>
              <a:t>Switching between Basic and Scientific layouts </a:t>
            </a:r>
          </a:p>
          <a:p>
            <a:r>
              <a:rPr lang="en-US" sz="1900" dirty="0"/>
              <a:t>Implementing memory functions (MC, MR, M+, M-) </a:t>
            </a:r>
          </a:p>
          <a:p>
            <a:r>
              <a:rPr lang="en-US" sz="1900" dirty="0"/>
              <a:t>Maintaining calculation history efficiently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DA0B9-B0D1-CE73-97C8-69EC5674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97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8F32-81CD-29A6-A9CD-B7D39E0E2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DDFF-14D9-1C0D-B4A0-6B409F87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E7193-4231-A241-8AC6-29CA95C6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7F446F-520A-AA6A-12B3-484C6A1E3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23957" y="2218364"/>
            <a:ext cx="7099508" cy="3999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endParaRPr lang="en-US" altLang="en-US" sz="1900" dirty="0"/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900" dirty="0"/>
              <a:t>Add advanced mathematical functions (factorial, permutations, </a:t>
            </a: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900" dirty="0"/>
              <a:t>    combinations) 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900" dirty="0"/>
              <a:t>Enhance UI with animations and improved styling 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900" dirty="0"/>
              <a:t>Add search/filter option in calculation history 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900" dirty="0"/>
              <a:t>Enable export/save history to file (CSV/PDF) 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900" dirty="0"/>
              <a:t>Implement expression validation before evaluation 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900" dirty="0"/>
              <a:t>Add multi-theme customization (beyond light/dark) 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900" dirty="0"/>
              <a:t>Develop a web or mobile version of the calculator </a:t>
            </a:r>
          </a:p>
        </p:txBody>
      </p:sp>
    </p:spTree>
    <p:extLst>
      <p:ext uri="{BB962C8B-B14F-4D97-AF65-F5344CB8AC3E}">
        <p14:creationId xmlns:p14="http://schemas.microsoft.com/office/powerpoint/2010/main" val="425109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6B836-1899-7734-D807-5320D8EC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2359-8B12-82D1-0BB2-E72CC27CD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FA1C-C159-BD5D-0461-F65E015DD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238" y="3248533"/>
            <a:ext cx="9764967" cy="121531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project enhanced my understanding of GUI development, problem-solving, and real-time application design, while building a practical and user-centric calculator solution.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B3075-A06B-399D-078B-5F49F34F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238" y="1955440"/>
            <a:ext cx="5230761" cy="1773936"/>
          </a:xfrm>
        </p:spPr>
        <p:txBody>
          <a:bodyPr>
            <a:normAutofit/>
          </a:bodyPr>
          <a:lstStyle/>
          <a:p>
            <a:r>
              <a:rPr lang="en-US" sz="6000" dirty="0"/>
              <a:t>Thank you!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{B651201B-BE0D-4F60-B829-B35C1406BAA6}TF63aebcec-8e39-4664-940a-dd6c2f00c54d020a9832_win32-3cdd3ee32610</Template>
  <TotalTime>314</TotalTime>
  <Words>481</Words>
  <Application>Microsoft Office PowerPoint</Application>
  <PresentationFormat>Widescreen</PresentationFormat>
  <Paragraphs>105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等线</vt:lpstr>
      <vt:lpstr>Abadi</vt:lpstr>
      <vt:lpstr>Abadi (Body)</vt:lpstr>
      <vt:lpstr>ADLaM Display</vt:lpstr>
      <vt:lpstr>Arial</vt:lpstr>
      <vt:lpstr>Calibri</vt:lpstr>
      <vt:lpstr>Posterama</vt:lpstr>
      <vt:lpstr>Posterama Text SemiBold</vt:lpstr>
      <vt:lpstr>Custom</vt:lpstr>
      <vt:lpstr>Mathlogical (Scientific Calculator)</vt:lpstr>
      <vt:lpstr>Introduction </vt:lpstr>
      <vt:lpstr>Why PyQt5?</vt:lpstr>
      <vt:lpstr>Operator &amp; Functions</vt:lpstr>
      <vt:lpstr> Light Theme </vt:lpstr>
      <vt:lpstr> Dark Theme </vt:lpstr>
      <vt:lpstr>Challenges</vt:lpstr>
      <vt:lpstr>Future scope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rathod</dc:creator>
  <cp:lastModifiedBy>rajesh rathod</cp:lastModifiedBy>
  <cp:revision>3</cp:revision>
  <dcterms:created xsi:type="dcterms:W3CDTF">2026-04-25T13:05:02Z</dcterms:created>
  <dcterms:modified xsi:type="dcterms:W3CDTF">2026-05-11T05:16:33Z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